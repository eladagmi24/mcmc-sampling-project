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76656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MCMC Sampling Methods for</a:t>
            </a:r>
          </a:p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Bayesian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6636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A0"/>
                </a:solidFill>
                <a:latin typeface="Calibri"/>
              </a:defRPr>
            </a:pPr>
            <a:r>
              <a:rPr dirty="0"/>
              <a:t>Predicting Cloud Server Loads with Uncertainty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Advanced Methods in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Elad Dagmi  |  Shaked Mizrahi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Bayesian inference requires sampling from intractable posteriors</a:t>
            </a:r>
          </a:p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MCMC methods approximate distributions we cannot compute directly</a:t>
            </a:r>
          </a:p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Application: predict cloud server CPU load with uncertainty</a:t>
            </a:r>
          </a:p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Fundamental to modern ML: diffusion models, variational inference, RL</a:t>
            </a:r>
          </a:p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Bridges theory (Markov chains, detailed balance) and real-world practice</a:t>
            </a:r>
          </a:p>
          <a:p>
            <a:pPr>
              <a:spcAft>
                <a:spcPts val="20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 Goal: compare three MCMC samplers on a real-world regression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How fast does each method reach the target distribution?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A0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Sampling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Which method gives the most independent samples per second?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Prediction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Does the choice of sampler affect RMSE and calibration?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Robustness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How sensitive is each method to its hyperparameters?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Methods We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Metropolis-Hastings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828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General-purpose MCMC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Proposes from q(x'|x), accepts/rejects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Simple but random-walk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A0"/>
                </a:solidFill>
                <a:latin typeface="Calibri"/>
              </a:defRPr>
            </a:pPr>
            <a:r>
              <a:t>Gibbs Sampling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965960"/>
            <a:ext cx="1828800" cy="254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Samples each variable conditionally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100% acceptance rate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Requires known conditionals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42"/>
                </a:solidFill>
                <a:latin typeface="Calibri"/>
              </a:defRPr>
            </a:pPr>
            <a:r>
              <a:t>Hamiltonian Monte Carlo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65960"/>
            <a:ext cx="182880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Uses gradient information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Efficient in high dimensions</a:t>
            </a:r>
          </a:p>
          <a:p>
            <a:pPr>
              <a:spcAft>
                <a:spcPts val="1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Suppresses random-walk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Comparison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Convergence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trace plots, Gelman-Rubin R̂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Acceptance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proposal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Effective Sample Size (ESS)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independent samples after autocorrelation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Runtime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ESS per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Prediction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test-set regression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• 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95% credible interval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Dataset: Bitbrains Datacenter Traces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Source: GWA-T-12 (TU Delft / Kaggle)</a:t>
            </a:r>
          </a:p>
          <a:p>
            <a:pPr>
              <a:spcAft>
                <a:spcPts val="20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1,750 VMs, ~30 days, 5-min intervals</a:t>
            </a:r>
          </a:p>
          <a:p>
            <a:pPr>
              <a:spcAft>
                <a:spcPts val="20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Total size: ~284 MB (CSV)</a:t>
            </a:r>
          </a:p>
          <a:p>
            <a:pPr>
              <a:spcAft>
                <a:spcPts val="20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 Well-established in cloud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A0"/>
                </a:solidFill>
                <a:latin typeface="Calibri"/>
              </a:defRPr>
            </a:pPr>
            <a:r>
              <a:t>Features per VM: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CPU usage (MHz) — target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CPU capacity, cores provisioned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Memory provisioned &amp; usage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Disk read/write throughput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Network in/out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Data Preparation: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Lag features + rolling statistics + z-score normalization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70/30 temporal train/test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4592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Loading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&amp; EDA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1874519"/>
            <a:ext cx="2743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1645920"/>
            <a:ext cx="1645920" cy="82296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1874519"/>
            <a:ext cx="2743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164592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1874519"/>
            <a:ext cx="2743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1645920" cy="82296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MCMC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Sampling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1874519"/>
            <a:ext cx="2743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164592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Diagnostics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75520" y="1874519"/>
            <a:ext cx="2743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49840" y="1645920"/>
            <a:ext cx="1645920" cy="82296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Bayesian Linear Regression: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y | X, β, σ² ~ N(Xβ, σ²I)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β ~ N(0, τ²I),  σ² ~ Inv-Gamma(a, b)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Conjugate priors → Gibbs conditionals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A0"/>
                </a:solidFill>
                <a:latin typeface="Calibri"/>
              </a:defRPr>
            </a:pPr>
            <a:r>
              <a:t>Tools: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Python (NumPy, SciPy, Matplotlib)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Custom MH, Gibbs, HMC implementations</a:t>
            </a:r>
          </a:p>
          <a:p>
            <a:pPr>
              <a:spcAft>
                <a:spcPts val="1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 ArviZ for MCMC 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Bishop, C.M. (2006). Pattern Recognition and Machine Learning. Ch. 11.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Neal, R.M. (2011). MCMC Using Hamiltonian Dynamics. Handbook of MCMC.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Gelman, A. et al. (2013). Bayesian Data Analysis, 3rd Ed.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Robert &amp; Casella (2004). Monte Carlo Statistical Methods.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Betancourt, M. (2017). A Conceptual Introduction to HMC. arXiv:1701.02434.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Hastings, W.K. (1970). Monte Carlo Sampling Methods Using Markov Chains.</a:t>
            </a:r>
          </a:p>
          <a:p>
            <a:pPr>
              <a:spcAft>
                <a:spcPts val="1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Shen, S. et al. (2015). Statistical Analysis of the Bitbrains Traces.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A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Elad Dagmi  |  Shaked Mizrahi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565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Elad Dagmi</cp:lastModifiedBy>
  <cp:revision>3</cp:revision>
  <dcterms:created xsi:type="dcterms:W3CDTF">2013-01-27T09:14:16Z</dcterms:created>
  <dcterms:modified xsi:type="dcterms:W3CDTF">2026-06-27T10:01:45Z</dcterms:modified>
  <cp:category/>
</cp:coreProperties>
</file>